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83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  <p:italic r:id="rId14"/>
      <p:boldItalic r:id="rId15"/>
    </p:embeddedFont>
    <p:embeddedFont>
      <p:font typeface="Raleway ExtraBold" pitchFamily="2" charset="0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9"/>
  </p:normalViewPr>
  <p:slideViewPr>
    <p:cSldViewPr snapToGrid="0">
      <p:cViewPr varScale="1">
        <p:scale>
          <a:sx n="78" d="100"/>
          <a:sy n="78" d="100"/>
        </p:scale>
        <p:origin x="87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5cb8b39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5cb8b39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6de6bafc9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6de6bafc9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f88252dc4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f88252dc4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shutterstock_429987889_edited.jpg"/>
          <p:cNvPicPr preferRelativeResize="0"/>
          <p:nvPr/>
        </p:nvPicPr>
        <p:blipFill rotWithShape="1">
          <a:blip r:embed="rId2">
            <a:alphaModFix/>
          </a:blip>
          <a:srcRect t="21800" b="23591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sz="6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lang="en-GB" sz="600" b="1"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sz="6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TITLE_1">
    <p:bg>
      <p:bgPr>
        <a:solidFill>
          <a:schemeClr val="l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shutterstock_429987889_edited.jpg"/>
          <p:cNvPicPr preferRelativeResize="0"/>
          <p:nvPr/>
        </p:nvPicPr>
        <p:blipFill rotWithShape="1">
          <a:blip r:embed="rId2">
            <a:alphaModFix/>
          </a:blip>
          <a:srcRect t="21800" b="23591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3">
            <a:hlinkClick r:id="rId3" action="ppaction://hlinksldjump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" name="Google Shape;31;p3">
            <a:hlinkClick r:id="rId3" action="ppaction://hlinksldjump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3">
            <a:hlinkClick r:id="rId3" action="ppaction://hlinksldjump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3">
            <a:hlinkClick r:id="rId3" action="ppaction://hlinksldjump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4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42;p4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4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5">
            <a:hlinkClick r:id="rId2" action="ppaction://hlinksldjump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5">
            <a:hlinkClick r:id="rId2" action="ppaction://hlinksldjump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Google Shape;54;p5">
            <a:hlinkClick r:id="rId2" action="ppaction://hlinksldjump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5">
            <a:hlinkClick r:id="rId2" action="ppaction://hlinksldjump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8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" name="Google Shape;83;p8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8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11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1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6" name="Google Shape;116;p11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1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1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12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2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12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" name="Google Shape;129;p12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2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2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" name="Google Shape;135;p13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3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3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13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4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4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14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14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14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15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3" name="Google Shape;153;p15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15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15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DA10B-EE15-4BAB-21EE-6794C55C3E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345" r="5225"/>
          <a:stretch>
            <a:fillRect/>
          </a:stretch>
        </p:blipFill>
        <p:spPr>
          <a:xfrm>
            <a:off x="-4798" y="0"/>
            <a:ext cx="9153597" cy="5143500"/>
          </a:xfrm>
          <a:prstGeom prst="rect">
            <a:avLst/>
          </a:prstGeom>
          <a:effectLst>
            <a:softEdge rad="0"/>
          </a:effectLst>
        </p:spPr>
      </p:pic>
      <p:sp>
        <p:nvSpPr>
          <p:cNvPr id="176" name="Google Shape;176;p18"/>
          <p:cNvSpPr txBox="1">
            <a:spLocks noGrp="1"/>
          </p:cNvSpPr>
          <p:nvPr>
            <p:ph type="ctrTitle"/>
          </p:nvPr>
        </p:nvSpPr>
        <p:spPr>
          <a:xfrm>
            <a:off x="25" y="1322450"/>
            <a:ext cx="9144000" cy="941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dirty="0">
                <a:solidFill>
                  <a:schemeClr val="bg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GIS-based School site selection in Lahore, Pakistan</a:t>
            </a:r>
            <a:endParaRPr sz="4900" b="0" dirty="0">
              <a:solidFill>
                <a:schemeClr val="bg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179" name="Google Shape;179;p18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8114" y="152400"/>
            <a:ext cx="1850974" cy="43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58332"/>
          <a:stretch/>
        </p:blipFill>
        <p:spPr>
          <a:xfrm>
            <a:off x="0" y="0"/>
            <a:ext cx="1262743" cy="58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44FEED-70B8-9EE7-77F3-B1B05097F6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4392" y="4309600"/>
            <a:ext cx="1124696" cy="833900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36D3805B-AEDD-0E3F-6FA8-28D6FEBD6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PK" dirty="0">
                <a:solidFill>
                  <a:schemeClr val="bg1"/>
                </a:solidFill>
              </a:rPr>
              <a:t>Presenter:</a:t>
            </a:r>
            <a:r>
              <a:rPr lang="en-US" dirty="0">
                <a:solidFill>
                  <a:schemeClr val="bg1"/>
                </a:solidFill>
              </a:rPr>
              <a:t> Muhammad Abdul Aleem</a:t>
            </a:r>
            <a:endParaRPr lang="en-PK" dirty="0">
              <a:solidFill>
                <a:schemeClr val="bg1"/>
              </a:solidFill>
            </a:endParaRPr>
          </a:p>
          <a:p>
            <a:endParaRPr lang="en-PK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729450" y="651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Statement</a:t>
            </a:r>
            <a:endParaRPr dirty="0"/>
          </a:p>
        </p:txBody>
      </p:sp>
      <p:sp>
        <p:nvSpPr>
          <p:cNvPr id="205" name="Google Shape;205;p20"/>
          <p:cNvSpPr txBox="1">
            <a:spLocks noGrp="1"/>
          </p:cNvSpPr>
          <p:nvPr>
            <p:ph type="body" idx="1"/>
          </p:nvPr>
        </p:nvSpPr>
        <p:spPr>
          <a:xfrm>
            <a:off x="457200" y="1150000"/>
            <a:ext cx="4300000" cy="3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indent="-285750">
              <a:lnSpc>
                <a:spcPct val="120000"/>
              </a:lnSpc>
              <a:spcBef>
                <a:spcPts val="1600"/>
              </a:spcBef>
            </a:pPr>
            <a:r>
              <a:rPr lang="en-US" sz="1400" b="1" dirty="0"/>
              <a:t>Growing Demand:</a:t>
            </a:r>
            <a:r>
              <a:rPr lang="en-US" sz="1400" dirty="0"/>
              <a:t> Lahore’s 14M+ population strains public schools, creating surging demand for private education — unevenly spread across the city.</a:t>
            </a:r>
          </a:p>
          <a:p>
            <a:pPr marL="742950" indent="-285750">
              <a:lnSpc>
                <a:spcPct val="120000"/>
              </a:lnSpc>
              <a:spcBef>
                <a:spcPts val="1600"/>
              </a:spcBef>
            </a:pPr>
            <a:r>
              <a:rPr lang="en-US" sz="1400" b="1" dirty="0"/>
              <a:t>Investment Risk:</a:t>
            </a:r>
            <a:r>
              <a:rPr lang="en-US" sz="1400" dirty="0"/>
              <a:t> Investors lack data on where demand is high, competition is low, and costs are realistic.</a:t>
            </a:r>
          </a:p>
          <a:p>
            <a:pPr marL="742950" indent="-285750">
              <a:lnSpc>
                <a:spcPct val="120000"/>
              </a:lnSpc>
              <a:spcBef>
                <a:spcPts val="1600"/>
              </a:spcBef>
            </a:pPr>
            <a:r>
              <a:rPr lang="en-US" sz="1400" b="1" dirty="0"/>
              <a:t>The Consequence:</a:t>
            </a:r>
            <a:r>
              <a:rPr lang="en-US" sz="1400" dirty="0"/>
              <a:t> Wrong location = low enrollment, stiff competition, early closure — all preventable with spatial evidence.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/>
          </a:p>
        </p:txBody>
      </p:sp>
      <p:pic>
        <p:nvPicPr>
          <p:cNvPr id="2" name="Google Shape;180;p18">
            <a:extLst>
              <a:ext uri="{FF2B5EF4-FFF2-40B4-BE49-F238E27FC236}">
                <a16:creationId xmlns:a16="http://schemas.microsoft.com/office/drawing/2014/main" id="{ED1291ED-55A1-14C9-9877-3170A1582EA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58332" r="25863"/>
          <a:stretch>
            <a:fillRect/>
          </a:stretch>
        </p:blipFill>
        <p:spPr>
          <a:xfrm>
            <a:off x="8275178" y="4393549"/>
            <a:ext cx="478972" cy="58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9;p18">
            <a:extLst>
              <a:ext uri="{FF2B5EF4-FFF2-40B4-BE49-F238E27FC236}">
                <a16:creationId xmlns:a16="http://schemas.microsoft.com/office/drawing/2014/main" id="{832EDDD4-CA9B-5FA0-7003-F0B86236B1D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/>
          </a:blip>
          <a:srcRect r="68830" b="-3279"/>
          <a:stretch>
            <a:fillRect/>
          </a:stretch>
        </p:blipFill>
        <p:spPr>
          <a:xfrm>
            <a:off x="7698235" y="4531642"/>
            <a:ext cx="576943" cy="45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A03417-D639-5A1D-7648-7C7C7B3FA8E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464" y="4511796"/>
            <a:ext cx="783771" cy="490286"/>
          </a:xfrm>
          <a:prstGeom prst="rect">
            <a:avLst/>
          </a:prstGeom>
        </p:spPr>
      </p:pic>
      <p:pic>
        <p:nvPicPr>
          <p:cNvPr id="220" name="WorldPopM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200" y="530680"/>
            <a:ext cx="3797455" cy="396127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>
            <a:spLocks noGrp="1"/>
          </p:cNvSpPr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Methodology</a:t>
            </a:r>
            <a:endParaRPr dirty="0"/>
          </a:p>
        </p:txBody>
      </p:sp>
      <p:sp>
        <p:nvSpPr>
          <p:cNvPr id="212" name="Google Shape;212;p21"/>
          <p:cNvSpPr txBox="1">
            <a:spLocks noGrp="1"/>
          </p:cNvSpPr>
          <p:nvPr>
            <p:ph type="body" idx="1"/>
          </p:nvPr>
        </p:nvSpPr>
        <p:spPr>
          <a:xfrm>
            <a:off x="598822" y="1386846"/>
            <a:ext cx="3091435" cy="23698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lnSpc>
                <a:spcPct val="115000"/>
              </a:lnSpc>
              <a:buSzPts val="1400"/>
            </a:pPr>
            <a:r>
              <a:rPr lang="en-US" sz="1300" b="1" dirty="0"/>
              <a:t>Step 1 — Demand Mapping:</a:t>
            </a:r>
            <a:r>
              <a:rPr lang="en-US" sz="1200" dirty="0"/>
              <a:t> WorldPop + KDE (1–2 km bandwidth) on OSMnx schools identifies underserved zones with unmet child demand.</a:t>
            </a:r>
          </a:p>
          <a:p>
            <a:pPr lvl="0" indent="-317500">
              <a:lnSpc>
                <a:spcPct val="115000"/>
              </a:lnSpc>
              <a:buSzPts val="1400"/>
            </a:pPr>
            <a:r>
              <a:rPr lang="en-US" sz="1300" b="1" dirty="0"/>
              <a:t>Step 2 — MCDA Scoring:</a:t>
            </a:r>
            <a:r>
              <a:rPr lang="en-US" sz="1200" dirty="0"/>
              <a:t> OSMnx road travel-time + Zameen.com property rates fed into MCDA to rank candidate sites.</a:t>
            </a:r>
          </a:p>
          <a:p>
            <a:pPr lvl="0" indent="-317500">
              <a:lnSpc>
                <a:spcPct val="115000"/>
              </a:lnSpc>
              <a:buSzPts val="1400"/>
            </a:pPr>
            <a:r>
              <a:rPr lang="en-US" sz="1300" b="1" dirty="0"/>
              <a:t>Step 3 — Break-Even Model:</a:t>
            </a:r>
            <a:r>
              <a:rPr lang="en-US" sz="1200" dirty="0"/>
              <a:t> Setup costs modelled per site; minimum enrollment to break even calculated.</a:t>
            </a:r>
            <a:endParaRPr sz="1300"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2733600" y="4911900"/>
            <a:ext cx="641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Google Shape;180;p18">
            <a:extLst>
              <a:ext uri="{FF2B5EF4-FFF2-40B4-BE49-F238E27FC236}">
                <a16:creationId xmlns:a16="http://schemas.microsoft.com/office/drawing/2014/main" id="{2C6F5AB6-9474-EE2B-9189-BAAEA8CB712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58332" r="25863"/>
          <a:stretch>
            <a:fillRect/>
          </a:stretch>
        </p:blipFill>
        <p:spPr>
          <a:xfrm>
            <a:off x="8275178" y="4393549"/>
            <a:ext cx="478972" cy="58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9;p18">
            <a:extLst>
              <a:ext uri="{FF2B5EF4-FFF2-40B4-BE49-F238E27FC236}">
                <a16:creationId xmlns:a16="http://schemas.microsoft.com/office/drawing/2014/main" id="{D85DCB47-AA94-DCE9-B0C8-0C87C66B686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/>
          </a:blip>
          <a:srcRect r="68830" b="-3279"/>
          <a:stretch>
            <a:fillRect/>
          </a:stretch>
        </p:blipFill>
        <p:spPr>
          <a:xfrm>
            <a:off x="7698235" y="4531642"/>
            <a:ext cx="576943" cy="45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586D2-9053-E8C9-6196-C6C21580DB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464" y="4511796"/>
            <a:ext cx="783771" cy="490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DBBA3-06F7-D9BA-9F4F-CE099A3824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978" y="623926"/>
            <a:ext cx="4233172" cy="3756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729450" y="651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Results/Expected outcomes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A54ED-1837-CCF5-FF08-C2C7C9D8C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00000"/>
            <a:ext cx="3820886" cy="28535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Optimal Zoning Map:</a:t>
            </a:r>
            <a:r>
              <a:rPr lang="en-US" dirty="0"/>
              <a:t> Ranked, color-coded map of Lahore’s top school investment zones scored by demand gap, accessibility, and cost.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Financial Clarity:</a:t>
            </a:r>
            <a:r>
              <a:rPr lang="en-US" dirty="0"/>
              <a:t> Site-by-site cost table + exact break-even enrollment threshold per location.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Confident Decisions:</a:t>
            </a:r>
            <a:r>
              <a:rPr lang="en-US" dirty="0"/>
              <a:t> Spatial data distilled into one actionable brief — right location, right budget, right time to invest.</a:t>
            </a:r>
            <a:endParaRPr lang="en-PK" dirty="0"/>
          </a:p>
        </p:txBody>
      </p:sp>
      <p:pic>
        <p:nvPicPr>
          <p:cNvPr id="6" name="Google Shape;180;p18">
            <a:extLst>
              <a:ext uri="{FF2B5EF4-FFF2-40B4-BE49-F238E27FC236}">
                <a16:creationId xmlns:a16="http://schemas.microsoft.com/office/drawing/2014/main" id="{DFCE5A11-2CE3-F198-B063-1CBB60F5AF6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58332" r="25863"/>
          <a:stretch>
            <a:fillRect/>
          </a:stretch>
        </p:blipFill>
        <p:spPr>
          <a:xfrm>
            <a:off x="8275178" y="4393549"/>
            <a:ext cx="478972" cy="58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KDESchoo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414" y="726621"/>
            <a:ext cx="3482585" cy="345337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pic>
        <p:nvPicPr>
          <p:cNvPr id="7" name="Google Shape;179;p18">
            <a:extLst>
              <a:ext uri="{FF2B5EF4-FFF2-40B4-BE49-F238E27FC236}">
                <a16:creationId xmlns:a16="http://schemas.microsoft.com/office/drawing/2014/main" id="{30D2F2F0-3A1A-2602-7C53-04CFA6FFEEDA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alphaModFix/>
          </a:blip>
          <a:srcRect r="68830" b="-3279"/>
          <a:stretch>
            <a:fillRect/>
          </a:stretch>
        </p:blipFill>
        <p:spPr>
          <a:xfrm>
            <a:off x="7698235" y="4531642"/>
            <a:ext cx="576943" cy="45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4B1694-83E8-3A72-2438-747311FCC0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464" y="4511796"/>
            <a:ext cx="783771" cy="490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5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Thank you.</a:t>
            </a:r>
            <a:endParaRPr/>
          </a:p>
        </p:txBody>
      </p:sp>
      <p:pic>
        <p:nvPicPr>
          <p:cNvPr id="2" name="Google Shape;180;p18">
            <a:extLst>
              <a:ext uri="{FF2B5EF4-FFF2-40B4-BE49-F238E27FC236}">
                <a16:creationId xmlns:a16="http://schemas.microsoft.com/office/drawing/2014/main" id="{59C4BEB9-264C-09E1-A4B0-2346C3833C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8332"/>
          <a:stretch/>
        </p:blipFill>
        <p:spPr>
          <a:xfrm>
            <a:off x="925286" y="2494489"/>
            <a:ext cx="2090057" cy="1153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33734A-3D08-D261-1B76-241BB70C1A7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76893" y="2494489"/>
            <a:ext cx="1951501" cy="1304627"/>
          </a:xfrm>
          <a:prstGeom prst="rect">
            <a:avLst/>
          </a:prstGeom>
        </p:spPr>
      </p:pic>
      <p:pic>
        <p:nvPicPr>
          <p:cNvPr id="4" name="Google Shape;179;p18">
            <a:extLst>
              <a:ext uri="{FF2B5EF4-FFF2-40B4-BE49-F238E27FC236}">
                <a16:creationId xmlns:a16="http://schemas.microsoft.com/office/drawing/2014/main" id="{7E9E01C2-995E-5A57-A671-B40ABFC7A80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179" y="2751662"/>
            <a:ext cx="3069878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216</Words>
  <Application>Microsoft Office PowerPoint</Application>
  <PresentationFormat>On-screen Show (16:9)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Raleway</vt:lpstr>
      <vt:lpstr>Raleway ExtraBold</vt:lpstr>
      <vt:lpstr>Lato</vt:lpstr>
      <vt:lpstr>Arial</vt:lpstr>
      <vt:lpstr>Streamline</vt:lpstr>
      <vt:lpstr>GIS-based School site selection in Lahore, Pakistan</vt:lpstr>
      <vt:lpstr>Problem Statement</vt:lpstr>
      <vt:lpstr>Methodology</vt:lpstr>
      <vt:lpstr>Results/Expected outcomes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 Aleem</cp:lastModifiedBy>
  <cp:revision>11</cp:revision>
  <dcterms:modified xsi:type="dcterms:W3CDTF">2026-04-21T10:09:33Z</dcterms:modified>
</cp:coreProperties>
</file>